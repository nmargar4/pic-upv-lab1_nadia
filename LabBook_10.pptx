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6" r:id="rId2"/>
    <p:sldId id="295" r:id="rId3"/>
    <p:sldId id="290" r:id="rId4"/>
    <p:sldId id="292" r:id="rId5"/>
    <p:sldId id="297" r:id="rId6"/>
    <p:sldId id="293" r:id="rId7"/>
    <p:sldId id="288" r:id="rId8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3A380-F68D-4B97-8CF0-04FACEB71A64}" v="8" dt="2026-02-16T10:00:04.3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538" autoAdjust="0"/>
    <p:restoredTop sz="91795" autoAdjust="0"/>
  </p:normalViewPr>
  <p:slideViewPr>
    <p:cSldViewPr>
      <p:cViewPr>
        <p:scale>
          <a:sx n="70" d="100"/>
          <a:sy n="70" d="100"/>
        </p:scale>
        <p:origin x="-96" y="75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E6287060-0277-4BCC-9556-78F4A9113EC4}"/>
    <pc:docChg chg="custSel addSld delSld modSld">
      <pc:chgData name="Christian Camilo Cano Vasquez" userId="8c73a2a4-758b-4e34-81ed-39462e48bd92" providerId="ADAL" clId="{E6287060-0277-4BCC-9556-78F4A9113EC4}" dt="2026-02-16T10:00:04.333" v="112"/>
      <pc:docMkLst>
        <pc:docMk/>
      </pc:docMkLst>
      <pc:sldChg chg="addSp delSp modSp mod">
        <pc:chgData name="Christian Camilo Cano Vasquez" userId="8c73a2a4-758b-4e34-81ed-39462e48bd92" providerId="ADAL" clId="{E6287060-0277-4BCC-9556-78F4A9113EC4}" dt="2026-02-16T09:54:36.314" v="109" actId="20577"/>
        <pc:sldMkLst>
          <pc:docMk/>
          <pc:sldMk cId="730501311" sldId="290"/>
        </pc:sldMkLst>
        <pc:spChg chg="add mod">
          <ac:chgData name="Christian Camilo Cano Vasquez" userId="8c73a2a4-758b-4e34-81ed-39462e48bd92" providerId="ADAL" clId="{E6287060-0277-4BCC-9556-78F4A9113EC4}" dt="2026-02-16T09:48:48.742" v="10" actId="1076"/>
          <ac:spMkLst>
            <pc:docMk/>
            <pc:sldMk cId="730501311" sldId="290"/>
            <ac:spMk id="2" creationId="{029F2FF9-FEB4-7AA3-B3B4-EFA9CFA0E230}"/>
          </ac:spMkLst>
        </pc:spChg>
        <pc:spChg chg="add mod">
          <ac:chgData name="Christian Camilo Cano Vasquez" userId="8c73a2a4-758b-4e34-81ed-39462e48bd92" providerId="ADAL" clId="{E6287060-0277-4BCC-9556-78F4A9113EC4}" dt="2026-02-16T09:49:37.395" v="33" actId="20577"/>
          <ac:spMkLst>
            <pc:docMk/>
            <pc:sldMk cId="730501311" sldId="290"/>
            <ac:spMk id="4" creationId="{C2C94B57-6111-4070-F6BA-8C3B9C305618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7" creationId="{F917B3AA-589C-A90A-EE95-EE60C6D04663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9" creationId="{793F5757-34AB-6F24-0981-9F1F15A0ADF8}"/>
          </ac:spMkLst>
        </pc:spChg>
        <pc:spChg chg="del">
          <ac:chgData name="Christian Camilo Cano Vasquez" userId="8c73a2a4-758b-4e34-81ed-39462e48bd92" providerId="ADAL" clId="{E6287060-0277-4BCC-9556-78F4A9113EC4}" dt="2026-02-16T09:48:35.096" v="6" actId="478"/>
          <ac:spMkLst>
            <pc:docMk/>
            <pc:sldMk cId="730501311" sldId="290"/>
            <ac:spMk id="11" creationId="{8BD4C233-B5D9-B6AA-93A8-CF2F130CFF9C}"/>
          </ac:spMkLst>
        </pc:spChg>
        <pc:spChg chg="mod">
          <ac:chgData name="Christian Camilo Cano Vasquez" userId="8c73a2a4-758b-4e34-81ed-39462e48bd92" providerId="ADAL" clId="{E6287060-0277-4BCC-9556-78F4A9113EC4}" dt="2026-02-16T09:54:36.314" v="109" actId="20577"/>
          <ac:spMkLst>
            <pc:docMk/>
            <pc:sldMk cId="730501311" sldId="290"/>
            <ac:spMk id="16" creationId="{471E1424-6C4B-2D9A-1352-30AFB987AD41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4:44.707" v="111" actId="20577"/>
        <pc:sldMkLst>
          <pc:docMk/>
          <pc:sldMk cId="2900117438" sldId="292"/>
        </pc:sldMkLst>
        <pc:spChg chg="mod">
          <ac:chgData name="Christian Camilo Cano Vasquez" userId="8c73a2a4-758b-4e34-81ed-39462e48bd92" providerId="ADAL" clId="{E6287060-0277-4BCC-9556-78F4A9113EC4}" dt="2026-02-16T09:51:39.768" v="80" actId="313"/>
          <ac:spMkLst>
            <pc:docMk/>
            <pc:sldMk cId="2900117438" sldId="292"/>
            <ac:spMk id="2" creationId="{82A62DD6-5488-72A1-9926-0CAEE59089A9}"/>
          </ac:spMkLst>
        </pc:spChg>
        <pc:spChg chg="mod">
          <ac:chgData name="Christian Camilo Cano Vasquez" userId="8c73a2a4-758b-4e34-81ed-39462e48bd92" providerId="ADAL" clId="{E6287060-0277-4BCC-9556-78F4A9113EC4}" dt="2026-02-16T09:54:44.707" v="111" actId="20577"/>
          <ac:spMkLst>
            <pc:docMk/>
            <pc:sldMk cId="2900117438" sldId="292"/>
            <ac:spMk id="16" creationId="{6AA2E789-F7AE-F068-274C-E0F13A22DBCA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0:51.822" v="37" actId="20577"/>
        <pc:sldMkLst>
          <pc:docMk/>
          <pc:sldMk cId="3660438245" sldId="293"/>
        </pc:sldMkLst>
        <pc:spChg chg="mod">
          <ac:chgData name="Christian Camilo Cano Vasquez" userId="8c73a2a4-758b-4e34-81ed-39462e48bd92" providerId="ADAL" clId="{E6287060-0277-4BCC-9556-78F4A9113EC4}" dt="2026-02-16T09:45:25.127" v="4" actId="115"/>
          <ac:spMkLst>
            <pc:docMk/>
            <pc:sldMk cId="3660438245" sldId="293"/>
            <ac:spMk id="2" creationId="{FDE3A197-9508-F9F1-1FEB-FF883D78C151}"/>
          </ac:spMkLst>
        </pc:spChg>
        <pc:spChg chg="mod">
          <ac:chgData name="Christian Camilo Cano Vasquez" userId="8c73a2a4-758b-4e34-81ed-39462e48bd92" providerId="ADAL" clId="{E6287060-0277-4BCC-9556-78F4A9113EC4}" dt="2026-02-16T09:50:51.822" v="37" actId="20577"/>
          <ac:spMkLst>
            <pc:docMk/>
            <pc:sldMk cId="3660438245" sldId="293"/>
            <ac:spMk id="16" creationId="{742C31CE-19F0-B995-0997-9A2D6A879BF7}"/>
          </ac:spMkLst>
        </pc:spChg>
      </pc:sldChg>
      <pc:sldChg chg="modSp mod">
        <pc:chgData name="Christian Camilo Cano Vasquez" userId="8c73a2a4-758b-4e34-81ed-39462e48bd92" providerId="ADAL" clId="{E6287060-0277-4BCC-9556-78F4A9113EC4}" dt="2026-02-16T10:00:04.333" v="112"/>
        <pc:sldMkLst>
          <pc:docMk/>
          <pc:sldMk cId="473922805" sldId="295"/>
        </pc:sldMkLst>
        <pc:spChg chg="mod">
          <ac:chgData name="Christian Camilo Cano Vasquez" userId="8c73a2a4-758b-4e34-81ed-39462e48bd92" providerId="ADAL" clId="{E6287060-0277-4BCC-9556-78F4A9113EC4}" dt="2026-02-16T10:00:04.333" v="112"/>
          <ac:spMkLst>
            <pc:docMk/>
            <pc:sldMk cId="473922805" sldId="295"/>
            <ac:spMk id="4" creationId="{9F7BC140-B3D8-C3CB-55AD-9064C7CDE9CA}"/>
          </ac:spMkLst>
        </pc:spChg>
      </pc:sldChg>
      <pc:sldChg chg="del">
        <pc:chgData name="Christian Camilo Cano Vasquez" userId="8c73a2a4-758b-4e34-81ed-39462e48bd92" providerId="ADAL" clId="{E6287060-0277-4BCC-9556-78F4A9113EC4}" dt="2026-02-16T09:50:39.931" v="34" actId="47"/>
        <pc:sldMkLst>
          <pc:docMk/>
          <pc:sldMk cId="1245186850" sldId="296"/>
        </pc:sldMkLst>
      </pc:sldChg>
      <pc:sldChg chg="modSp add del">
        <pc:chgData name="Christian Camilo Cano Vasquez" userId="8c73a2a4-758b-4e34-81ed-39462e48bd92" providerId="ADAL" clId="{E6287060-0277-4BCC-9556-78F4A9113EC4}" dt="2026-02-16T09:50:57.288" v="39" actId="20577"/>
        <pc:sldMkLst>
          <pc:docMk/>
          <pc:sldMk cId="236054401" sldId="297"/>
        </pc:sldMkLst>
        <pc:spChg chg="mod">
          <ac:chgData name="Christian Camilo Cano Vasquez" userId="8c73a2a4-758b-4e34-81ed-39462e48bd92" providerId="ADAL" clId="{E6287060-0277-4BCC-9556-78F4A9113EC4}" dt="2026-02-16T09:50:57.288" v="39" actId="20577"/>
          <ac:spMkLst>
            <pc:docMk/>
            <pc:sldMk cId="236054401" sldId="297"/>
            <ac:spMk id="16" creationId="{394400B4-EE16-8E85-AB54-E82FE3B2934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1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70.png"/><Relationship Id="rId7" Type="http://schemas.openxmlformats.org/officeDocument/2006/relationships/image" Target="NUL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NULL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s-ES" dirty="0" err="1">
                <a:hlinkClick r:id="rId4"/>
              </a:rPr>
              <a:t>cccanvas-upv</a:t>
            </a:r>
            <a:r>
              <a:rPr lang="es-ES">
                <a:hlinkClick r:id="rId4"/>
              </a:rPr>
              <a:t>/pic-upv-lab1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Convergence tests</a:t>
            </a:r>
            <a:br>
              <a:rPr lang="en-US" sz="2500" dirty="0"/>
            </a:br>
            <a:r>
              <a:rPr lang="nl-NL" b="0" dirty="0"/>
              <a:t>DE waveguide, w = 1.2 µm, neff_TE0, wvl 1.55 µm.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67C6D40-33EE-D9BE-7F58-8D96221D0D59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3A5ECC9-91D2-2918-1681-822F99EB31CD}"/>
              </a:ext>
            </a:extLst>
          </p:cNvPr>
          <p:cNvSpPr txBox="1"/>
          <p:nvPr/>
        </p:nvSpPr>
        <p:spPr>
          <a:xfrm>
            <a:off x="1079403" y="2709096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neff_TE0 vs </a:t>
            </a:r>
            <a:r>
              <a:rPr lang="en-US" dirty="0" err="1"/>
              <a:t>grid_resolution</a:t>
            </a:r>
            <a:r>
              <a:rPr lang="en-US" dirty="0"/>
              <a:t> plot here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814CDD6-2B59-8488-4EB8-82801B4D3F22}"/>
              </a:ext>
            </a:extLst>
          </p:cNvPr>
          <p:cNvSpPr txBox="1"/>
          <p:nvPr/>
        </p:nvSpPr>
        <p:spPr>
          <a:xfrm>
            <a:off x="609441" y="4860334"/>
            <a:ext cx="11199971" cy="1785104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Comment results, determine above which grid value the effective index calculation does not change significantly</a:t>
            </a:r>
          </a:p>
          <a:p>
            <a:pPr algn="just"/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Para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buscar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configuración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óptima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nos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temenos que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fijar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partir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qué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valor de los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ejes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x,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valor del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no cambia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significativamente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resolución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del grid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que al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inicio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hay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cambios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bruscos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y que 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parir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de 50, la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curva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mantiene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constante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al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rededor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de un valor de neff_TE0= 1.605.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Esto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significa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que converge para un valor de grid resolution=50.</a:t>
            </a:r>
          </a:p>
          <a:p>
            <a:pPr algn="just"/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Así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mismo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del max grid resolution la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curva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estabiliza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partir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del valor de 1.4.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un valor de neff_TE0= 1.6053</a:t>
            </a:r>
          </a:p>
          <a:p>
            <a:pPr algn="just"/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La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configuración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escogeré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será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grid_resolution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= 20 y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max_grid_scalling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= 1.5.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resolución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del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mallado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he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escogido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ese valor 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tiene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una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respuesta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muy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similar al que converge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cuando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estabiliza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neff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=1.605)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pero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al ser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menor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tendrá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menor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costo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computacional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29F2FF9-FEB4-7AA3-B3B4-EFA9CFA0E230}"/>
              </a:ext>
            </a:extLst>
          </p:cNvPr>
          <p:cNvSpPr/>
          <p:nvPr/>
        </p:nvSpPr>
        <p:spPr>
          <a:xfrm>
            <a:off x="6322853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2C94B57-6111-4070-F6BA-8C3B9C305618}"/>
              </a:ext>
            </a:extLst>
          </p:cNvPr>
          <p:cNvSpPr txBox="1"/>
          <p:nvPr/>
        </p:nvSpPr>
        <p:spPr>
          <a:xfrm>
            <a:off x="6792815" y="2698951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neff_TE0 vs </a:t>
            </a:r>
            <a:r>
              <a:rPr lang="en-US" dirty="0" err="1"/>
              <a:t>max_grid_scaling</a:t>
            </a:r>
            <a:r>
              <a:rPr lang="en-US" dirty="0"/>
              <a:t> plot here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E35A9662-962B-49BE-9828-35AA80228A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2939" y="1658235"/>
            <a:ext cx="4119562" cy="3042138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19455F4C-5805-4C49-A10D-B3FBD5F75B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0439" y="1600265"/>
            <a:ext cx="4255473" cy="3100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373091"/>
            <a:ext cx="11199971" cy="2323713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width, polarization behavior,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 algn="just"/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Esta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gráfica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nos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muestra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dependecia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propagación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con respect a la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anchura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. 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medida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que la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aumentamos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, se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irán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propaganda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Si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neff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nclading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los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propagarán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mínimo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siempre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a ser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bimodo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desde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principio. </a:t>
            </a:r>
          </a:p>
          <a:p>
            <a:pPr algn="just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El modo 2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empieza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propagarse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aproximadamente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a los 1.3um,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mientras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3 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partir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de 1.6 um.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También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color de los puntos de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cada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modo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nos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indica sus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polarizaciones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orden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estaríamos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viendo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modo TE0, TM0. TE1 y TM1.</a:t>
            </a:r>
          </a:p>
          <a:p>
            <a:pPr algn="just"/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que las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curvas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de los dos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primeros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van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estabilizandose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medida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aumentamos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anchura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, para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acabar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estos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totalmente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confinados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núcleo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. Los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2 y 3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tienen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al final una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curva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muy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pronunciada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pues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están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“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ganando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confinamiento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” para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posteriormente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estabilizarse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segunda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gráfica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hemos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aumentado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rango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anchura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para observer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comporta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modo TE1.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llega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adelantar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al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magnético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, lo que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significa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que los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eléctricos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tienden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tener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un mayor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confinamiento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respecto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a los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magnéticos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2772627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EF5BFDA-8EC1-8C73-A932-F36C4DB93C73}"/>
              </a:ext>
            </a:extLst>
          </p:cNvPr>
          <p:cNvSpPr txBox="1"/>
          <p:nvPr/>
        </p:nvSpPr>
        <p:spPr>
          <a:xfrm>
            <a:off x="6629400" y="1600464"/>
            <a:ext cx="77185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6A400F8-E725-44B2-9AA3-74AF708EC7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0814" y="1570894"/>
            <a:ext cx="4023971" cy="2342526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FC927B3B-C818-4F37-9341-9DA3365281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1200" y="1599809"/>
            <a:ext cx="3648001" cy="2123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Waveguide compact model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0F38E924-A0E7-A039-C837-916BA77FE89B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radius, consider safe means less than 0.1 dB/90º.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/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90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°</m:t>
                            </m:r>
                          </m:den>
                        </m:f>
                      </m:e>
                    </m:d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" sz="18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ES" sz="1800" b="0" i="0" smtClean="0">
                        <a:latin typeface="Cambria Math" panose="02040503050406030204" pitchFamily="18" charset="0"/>
                      </a:rPr>
                      <m:t>R</m:t>
                    </m:r>
                    <m:f>
                      <m:f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s-ES" sz="18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µ</m:t>
                            </m:r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blipFill>
                <a:blip r:embed="rId5"/>
                <a:stretch>
                  <a:fillRect l="-3289" b="-1388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31EBD86-BA6C-68C9-2D38-FC8CFBA7ADC4}"/>
              </a:ext>
            </a:extLst>
          </p:cNvPr>
          <p:cNvSpPr txBox="1"/>
          <p:nvPr/>
        </p:nvSpPr>
        <p:spPr>
          <a:xfrm>
            <a:off x="7384749" y="1454159"/>
            <a:ext cx="47879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dB/90º neff_TE0 &amp; neff_TM0 vs R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F0FC54B-C373-4C33-8B01-4EC55B8AF2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6650" y="1498925"/>
            <a:ext cx="3956043" cy="3124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958</TotalTime>
  <Words>765</Words>
  <Application>Microsoft Office PowerPoint</Application>
  <PresentationFormat>Panorámica</PresentationFormat>
  <Paragraphs>95</Paragraphs>
  <Slides>7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Aptos</vt:lpstr>
      <vt:lpstr>Arial</vt:lpstr>
      <vt:lpstr>Calibri</vt:lpstr>
      <vt:lpstr>Cambria Math</vt:lpstr>
      <vt:lpstr>Lucida Sans</vt:lpstr>
      <vt:lpstr>Times New Roman</vt:lpstr>
      <vt:lpstr>Office Theme</vt:lpstr>
      <vt:lpstr>Presentación de PowerPoint</vt:lpstr>
      <vt:lpstr>Instructions General</vt:lpstr>
      <vt:lpstr>Learning outcome #1 – Convergence tests DE waveguide, w = 1.2 µm, neff_TE0, wvl 1.55 µm. </vt:lpstr>
      <vt:lpstr>Learning outcome #2 – Width dependence Width 0.6 - 1.6 µm (step 0.1 µm) – Wavelength 1.55 µm </vt:lpstr>
      <vt:lpstr>Learning outcome #3 – Waveguide compact model Let’s model the waveguide using a second order polynomial:  n_eff (λ)=n_1+n_2 (λ-λ_0 )+n_3 (λ-λ_0 )^2 </vt:lpstr>
      <vt:lpstr>Learning outcome #4 – Bend waveguide radius vs. loss – deep Find  neff_TE0 for wvl 1.55 µm, width 1.0 µm for R=25,50,75,100, 125,150 µm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cfp</cp:lastModifiedBy>
  <cp:revision>17</cp:revision>
  <dcterms:created xsi:type="dcterms:W3CDTF">2025-01-27T02:46:57Z</dcterms:created>
  <dcterms:modified xsi:type="dcterms:W3CDTF">2026-02-16T15:08:08Z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