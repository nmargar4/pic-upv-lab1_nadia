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5" r:id="rId3"/>
    <p:sldId id="290" r:id="rId4"/>
    <p:sldId id="292" r:id="rId5"/>
    <p:sldId id="297" r:id="rId6"/>
    <p:sldId id="298" r:id="rId7"/>
    <p:sldId id="293" r:id="rId8"/>
    <p:sldId id="288" r:id="rId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3A380-F68D-4B97-8CF0-04FACEB71A64}" v="8" dt="2026-02-16T10:00:04.3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38" autoAdjust="0"/>
    <p:restoredTop sz="91795" autoAdjust="0"/>
  </p:normalViewPr>
  <p:slideViewPr>
    <p:cSldViewPr>
      <p:cViewPr varScale="1">
        <p:scale>
          <a:sx n="90" d="100"/>
          <a:sy n="90" d="100"/>
        </p:scale>
        <p:origin x="108" y="3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custSel addSld delSld modSld">
      <pc:chgData name="Christian Camilo Cano Vasquez" userId="8c73a2a4-758b-4e34-81ed-39462e48bd92" providerId="ADAL" clId="{E6287060-0277-4BCC-9556-78F4A9113EC4}" dt="2026-02-16T10:00:04.333" v="112"/>
      <pc:docMkLst>
        <pc:docMk/>
      </pc:docMkLst>
      <pc:sldChg chg="addSp delSp modSp mod">
        <pc:chgData name="Christian Camilo Cano Vasquez" userId="8c73a2a4-758b-4e34-81ed-39462e48bd92" providerId="ADAL" clId="{E6287060-0277-4BCC-9556-78F4A9113EC4}" dt="2026-02-16T09:54:36.314" v="109" actId="20577"/>
        <pc:sldMkLst>
          <pc:docMk/>
          <pc:sldMk cId="730501311" sldId="290"/>
        </pc:sldMkLst>
        <pc:spChg chg="add mod">
          <ac:chgData name="Christian Camilo Cano Vasquez" userId="8c73a2a4-758b-4e34-81ed-39462e48bd92" providerId="ADAL" clId="{E6287060-0277-4BCC-9556-78F4A9113EC4}" dt="2026-02-16T09:48:48.742" v="10" actId="1076"/>
          <ac:spMkLst>
            <pc:docMk/>
            <pc:sldMk cId="730501311" sldId="290"/>
            <ac:spMk id="2" creationId="{029F2FF9-FEB4-7AA3-B3B4-EFA9CFA0E230}"/>
          </ac:spMkLst>
        </pc:spChg>
        <pc:spChg chg="add mod">
          <ac:chgData name="Christian Camilo Cano Vasquez" userId="8c73a2a4-758b-4e34-81ed-39462e48bd92" providerId="ADAL" clId="{E6287060-0277-4BCC-9556-78F4A9113EC4}" dt="2026-02-16T09:49:37.395" v="33" actId="20577"/>
          <ac:spMkLst>
            <pc:docMk/>
            <pc:sldMk cId="730501311" sldId="290"/>
            <ac:spMk id="4" creationId="{C2C94B57-6111-4070-F6BA-8C3B9C305618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7" creationId="{F917B3AA-589C-A90A-EE95-EE60C6D04663}"/>
          </ac:spMkLst>
        </pc:spChg>
        <pc:spChg chg="del">
          <ac:chgData name="Christian Camilo Cano Vasquez" userId="8c73a2a4-758b-4e34-81ed-39462e48bd92" providerId="ADAL" clId="{E6287060-0277-4BCC-9556-78F4A9113EC4}" dt="2026-02-16T09:48:32.837" v="5" actId="478"/>
          <ac:spMkLst>
            <pc:docMk/>
            <pc:sldMk cId="730501311" sldId="290"/>
            <ac:spMk id="9" creationId="{793F5757-34AB-6F24-0981-9F1F15A0ADF8}"/>
          </ac:spMkLst>
        </pc:spChg>
        <pc:spChg chg="del">
          <ac:chgData name="Christian Camilo Cano Vasquez" userId="8c73a2a4-758b-4e34-81ed-39462e48bd92" providerId="ADAL" clId="{E6287060-0277-4BCC-9556-78F4A9113EC4}" dt="2026-02-16T09:48:35.096" v="6" actId="478"/>
          <ac:spMkLst>
            <pc:docMk/>
            <pc:sldMk cId="730501311" sldId="290"/>
            <ac:spMk id="11" creationId="{8BD4C233-B5D9-B6AA-93A8-CF2F130CFF9C}"/>
          </ac:spMkLst>
        </pc:spChg>
        <pc:spChg chg="mod">
          <ac:chgData name="Christian Camilo Cano Vasquez" userId="8c73a2a4-758b-4e34-81ed-39462e48bd92" providerId="ADAL" clId="{E6287060-0277-4BCC-9556-78F4A9113EC4}" dt="2026-02-16T09:54:36.314" v="109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4:44.707" v="111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E6287060-0277-4BCC-9556-78F4A9113EC4}" dt="2026-02-16T09:51:39.768" v="80" actId="313"/>
          <ac:spMkLst>
            <pc:docMk/>
            <pc:sldMk cId="2900117438" sldId="292"/>
            <ac:spMk id="2" creationId="{82A62DD6-5488-72A1-9926-0CAEE59089A9}"/>
          </ac:spMkLst>
        </pc:spChg>
        <pc:spChg chg="mod">
          <ac:chgData name="Christian Camilo Cano Vasquez" userId="8c73a2a4-758b-4e34-81ed-39462e48bd92" providerId="ADAL" clId="{E6287060-0277-4BCC-9556-78F4A9113EC4}" dt="2026-02-16T09:54:44.707" v="111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modSp add del mod">
        <pc:chgData name="Christian Camilo Cano Vasquez" userId="8c73a2a4-758b-4e34-81ed-39462e48bd92" providerId="ADAL" clId="{E6287060-0277-4BCC-9556-78F4A9113EC4}" dt="2026-02-16T09:50:51.822" v="37" actId="20577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16T09:45:25.127" v="4" actId="115"/>
          <ac:spMkLst>
            <pc:docMk/>
            <pc:sldMk cId="3660438245" sldId="293"/>
            <ac:spMk id="2" creationId="{FDE3A197-9508-F9F1-1FEB-FF883D78C151}"/>
          </ac:spMkLst>
        </pc:spChg>
        <pc:spChg chg="mod">
          <ac:chgData name="Christian Camilo Cano Vasquez" userId="8c73a2a4-758b-4e34-81ed-39462e48bd92" providerId="ADAL" clId="{E6287060-0277-4BCC-9556-78F4A9113EC4}" dt="2026-02-16T09:50:51.822" v="37" actId="20577"/>
          <ac:spMkLst>
            <pc:docMk/>
            <pc:sldMk cId="3660438245" sldId="293"/>
            <ac:spMk id="16" creationId="{742C31CE-19F0-B995-0997-9A2D6A879BF7}"/>
          </ac:spMkLst>
        </pc:spChg>
      </pc:sldChg>
      <pc:sldChg chg="modSp mod">
        <pc:chgData name="Christian Camilo Cano Vasquez" userId="8c73a2a4-758b-4e34-81ed-39462e48bd92" providerId="ADAL" clId="{E6287060-0277-4BCC-9556-78F4A9113EC4}" dt="2026-02-16T10:00:04.333" v="112"/>
        <pc:sldMkLst>
          <pc:docMk/>
          <pc:sldMk cId="473922805" sldId="295"/>
        </pc:sldMkLst>
        <pc:spChg chg="mod">
          <ac:chgData name="Christian Camilo Cano Vasquez" userId="8c73a2a4-758b-4e34-81ed-39462e48bd92" providerId="ADAL" clId="{E6287060-0277-4BCC-9556-78F4A9113EC4}" dt="2026-02-16T10:00:04.333" v="112"/>
          <ac:spMkLst>
            <pc:docMk/>
            <pc:sldMk cId="473922805" sldId="295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16T09:50:39.931" v="34" actId="47"/>
        <pc:sldMkLst>
          <pc:docMk/>
          <pc:sldMk cId="1245186850" sldId="296"/>
        </pc:sldMkLst>
      </pc:sldChg>
      <pc:sldChg chg="modSp add del">
        <pc:chgData name="Christian Camilo Cano Vasquez" userId="8c73a2a4-758b-4e34-81ed-39462e48bd92" providerId="ADAL" clId="{E6287060-0277-4BCC-9556-78F4A9113EC4}" dt="2026-02-16T09:50:57.288" v="39" actId="20577"/>
        <pc:sldMkLst>
          <pc:docMk/>
          <pc:sldMk cId="236054401" sldId="297"/>
        </pc:sldMkLst>
        <pc:spChg chg="mod">
          <ac:chgData name="Christian Camilo Cano Vasquez" userId="8c73a2a4-758b-4e34-81ed-39462e48bd92" providerId="ADAL" clId="{E6287060-0277-4BCC-9556-78F4A9113EC4}" dt="2026-02-16T09:50:57.288" v="39" actId="20577"/>
          <ac:spMkLst>
            <pc:docMk/>
            <pc:sldMk cId="236054401" sldId="297"/>
            <ac:spMk id="16" creationId="{394400B4-EE16-8E85-AB54-E82FE3B2934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1.png"/><Relationship Id="rId7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4"/>
              </a:rPr>
              <a:t>cccanvas-upv</a:t>
            </a:r>
            <a:r>
              <a:rPr lang="es-ES">
                <a:hlinkClick r:id="rId4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A5ECC9-91D2-2918-1681-822F99EB31CD}"/>
              </a:ext>
            </a:extLst>
          </p:cNvPr>
          <p:cNvSpPr txBox="1"/>
          <p:nvPr/>
        </p:nvSpPr>
        <p:spPr>
          <a:xfrm>
            <a:off x="1079403" y="2709096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grid_resolution</a:t>
            </a:r>
            <a:r>
              <a:rPr lang="en-US" dirty="0"/>
              <a:t> plot here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14CDD6-2B59-8488-4EB8-82801B4D3F22}"/>
              </a:ext>
            </a:extLst>
          </p:cNvPr>
          <p:cNvSpPr txBox="1"/>
          <p:nvPr/>
        </p:nvSpPr>
        <p:spPr>
          <a:xfrm>
            <a:off x="609441" y="4860334"/>
            <a:ext cx="11199971" cy="178510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Comment results, determine above which grid value the effective index calculation does not change significantly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buscar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configuración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óptima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temenos que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fijar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qué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valor de los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ejes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x,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valor del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no cambia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significativamente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del grid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que al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cambios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bruscos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y que 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parir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 50, la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mantiene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rededor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 un valor de neff_TE0= 1.605.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significa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que converge para un valor de grid resolution=50.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Así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mismo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del max grid resolution la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estabiliza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del valor de 1.4.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un valor de neff_TE0= 1.6053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configuración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escogeré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será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grid_resolution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20 y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max_grid_scalling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 1.5.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mallado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he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escogido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ese valor 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una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respuesta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indice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similar al que converge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estabiliza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=1.605)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al ser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tendrá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costo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computacional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C94B57-6111-4070-F6BA-8C3B9C305618}"/>
              </a:ext>
            </a:extLst>
          </p:cNvPr>
          <p:cNvSpPr txBox="1"/>
          <p:nvPr/>
        </p:nvSpPr>
        <p:spPr>
          <a:xfrm>
            <a:off x="6792815" y="2698951"/>
            <a:ext cx="4546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neff_TE0 vs </a:t>
            </a:r>
            <a:r>
              <a:rPr lang="en-US" dirty="0" err="1"/>
              <a:t>max_grid_scaling</a:t>
            </a:r>
            <a:r>
              <a:rPr lang="en-US" dirty="0"/>
              <a:t> plot here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35A9662-962B-49BE-9828-35AA80228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1579745"/>
            <a:ext cx="4119562" cy="304213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9455F4C-5805-4C49-A10D-B3FBD5F75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439" y="1600265"/>
            <a:ext cx="4255473" cy="310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373091"/>
            <a:ext cx="11199971" cy="232371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width, polarization behavior,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  <a:p>
            <a:pPr algn="just"/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dependecia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propagación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con respect a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 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medida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que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aumentamos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irán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propaganda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nclading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propagarán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mínimo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siempre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 ser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bimodo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desde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principio. </a:t>
            </a:r>
          </a:p>
          <a:p>
            <a:pPr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 modo 2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empieza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propagarse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 los 1.3um,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3 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de 1.6 um.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También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color de los puntos de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modo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indica sus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polarizaciones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estaríamos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viendo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modo TE0, TM0. TE1 y TM1.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que las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curvas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de los dos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estabilizandose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medida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aumentamos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para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acabar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totalmente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 Los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2 y 3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tienen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al final una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pronunciada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pues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ganando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” para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posteriormente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estabilizarse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segunda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hemos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aumentado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rango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anchura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para observer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comporta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modo TE1.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llega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adelantar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magnético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, lo que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significa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que los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eléctricos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tienden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tener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un mayor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confinamiento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a los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magnéticos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27726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6629400" y="1600464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A400F8-E725-44B2-9AA3-74AF708EC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814" y="1570894"/>
            <a:ext cx="4023971" cy="23425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C927B3B-C818-4F37-9341-9DA3365281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1599809"/>
            <a:ext cx="3648001" cy="212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42866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428661"/>
              </a:xfrm>
              <a:prstGeom prst="rect">
                <a:avLst/>
              </a:prstGeom>
              <a:blipFill>
                <a:blip r:embed="rId3"/>
                <a:stretch>
                  <a:fillRect l="-1664" t="-555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9379811" y="6386169"/>
            <a:ext cx="2804160" cy="342900"/>
          </a:xfrm>
        </p:spPr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11868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Comment on the results found for the TE0 and TM0 for both deep and shallow waveguides. . </a:t>
                </a:r>
              </a:p>
              <a:p>
                <a:pPr algn="just"/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11868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/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blipFill>
                <a:blip r:embed="rId7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/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neff_TE0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 </a:t>
                </a:r>
              </a:p>
              <a:p>
                <a:pPr algn="ctr"/>
                <a:r>
                  <a:rPr lang="en-US" dirty="0"/>
                  <a:t>&amp; </a:t>
                </a:r>
                <a:r>
                  <a:rPr lang="en-US" b="1" dirty="0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the second-degree polynomial fit 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blipFill>
                <a:blip r:embed="rId8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F0FE8FA-35BA-443D-AE0C-E5DBEEFC4E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330" y="1475143"/>
            <a:ext cx="5184777" cy="321587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8FD4871-42C7-4EA6-B37B-B3D820E64C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7780" y="1465339"/>
            <a:ext cx="5282429" cy="327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961016-1845-43F6-8DE4-99158B8160D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4E4585-65DB-4E7A-94E9-08420EACC5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1F24D5DC-817B-4365-8FEF-D118B0ABA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399524"/>
              </p:ext>
            </p:extLst>
          </p:nvPr>
        </p:nvGraphicFramePr>
        <p:xfrm>
          <a:off x="609600" y="1094169"/>
          <a:ext cx="5134688" cy="1155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672">
                  <a:extLst>
                    <a:ext uri="{9D8B030D-6E8A-4147-A177-3AD203B41FA5}">
                      <a16:colId xmlns:a16="http://schemas.microsoft.com/office/drawing/2014/main" val="295643760"/>
                    </a:ext>
                  </a:extLst>
                </a:gridCol>
                <a:gridCol w="1283672">
                  <a:extLst>
                    <a:ext uri="{9D8B030D-6E8A-4147-A177-3AD203B41FA5}">
                      <a16:colId xmlns:a16="http://schemas.microsoft.com/office/drawing/2014/main" val="147285642"/>
                    </a:ext>
                  </a:extLst>
                </a:gridCol>
                <a:gridCol w="1283672">
                  <a:extLst>
                    <a:ext uri="{9D8B030D-6E8A-4147-A177-3AD203B41FA5}">
                      <a16:colId xmlns:a16="http://schemas.microsoft.com/office/drawing/2014/main" val="386221058"/>
                    </a:ext>
                  </a:extLst>
                </a:gridCol>
                <a:gridCol w="1283672">
                  <a:extLst>
                    <a:ext uri="{9D8B030D-6E8A-4147-A177-3AD203B41FA5}">
                      <a16:colId xmlns:a16="http://schemas.microsoft.com/office/drawing/2014/main" val="3258529604"/>
                    </a:ext>
                  </a:extLst>
                </a:gridCol>
              </a:tblGrid>
              <a:tr h="385236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n_eff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n_g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 [s^2/m]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770895"/>
                  </a:ext>
                </a:extLst>
              </a:tr>
              <a:tr h="385236">
                <a:tc>
                  <a:txBody>
                    <a:bodyPr/>
                    <a:lstStyle/>
                    <a:p>
                      <a:r>
                        <a:rPr lang="es-ES" dirty="0"/>
                        <a:t>Modo 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1.6049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-1006.7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515517"/>
                  </a:ext>
                </a:extLst>
              </a:tr>
              <a:tr h="385236">
                <a:tc>
                  <a:txBody>
                    <a:bodyPr/>
                    <a:lstStyle/>
                    <a:p>
                      <a:r>
                        <a:rPr lang="es-ES" dirty="0"/>
                        <a:t>Modo 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1.5272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-1590.69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824525"/>
                  </a:ext>
                </a:extLst>
              </a:tr>
            </a:tbl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A924A96F-A81A-45E8-8693-00CA2BBCF25E}"/>
              </a:ext>
            </a:extLst>
          </p:cNvPr>
          <p:cNvSpPr txBox="1">
            <a:spLocks/>
          </p:cNvSpPr>
          <p:nvPr/>
        </p:nvSpPr>
        <p:spPr>
          <a:xfrm>
            <a:off x="2209799" y="634602"/>
            <a:ext cx="2438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s-ES" kern="0" dirty="0"/>
              <a:t>Deep </a:t>
            </a:r>
            <a:r>
              <a:rPr lang="es-ES" kern="0" dirty="0" err="1"/>
              <a:t>waveguide</a:t>
            </a:r>
            <a:endParaRPr lang="es-ES" kern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22649E6-2376-4B26-90AF-426D16A1AB2A}"/>
              </a:ext>
            </a:extLst>
          </p:cNvPr>
          <p:cNvSpPr txBox="1">
            <a:spLocks/>
          </p:cNvSpPr>
          <p:nvPr/>
        </p:nvSpPr>
        <p:spPr>
          <a:xfrm>
            <a:off x="7543801" y="634601"/>
            <a:ext cx="24384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s-ES" kern="0" dirty="0" err="1"/>
              <a:t>Shallow</a:t>
            </a:r>
            <a:r>
              <a:rPr lang="es-ES" kern="0" dirty="0"/>
              <a:t> </a:t>
            </a:r>
            <a:r>
              <a:rPr lang="es-ES" kern="0" dirty="0" err="1"/>
              <a:t>waveguide</a:t>
            </a:r>
            <a:endParaRPr lang="es-ES" kern="0" dirty="0"/>
          </a:p>
        </p:txBody>
      </p:sp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D2EDAF16-D22E-490E-9FC4-298B7508E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399013"/>
              </p:ext>
            </p:extLst>
          </p:nvPr>
        </p:nvGraphicFramePr>
        <p:xfrm>
          <a:off x="6195657" y="1104096"/>
          <a:ext cx="5134688" cy="118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672">
                  <a:extLst>
                    <a:ext uri="{9D8B030D-6E8A-4147-A177-3AD203B41FA5}">
                      <a16:colId xmlns:a16="http://schemas.microsoft.com/office/drawing/2014/main" val="295643760"/>
                    </a:ext>
                  </a:extLst>
                </a:gridCol>
                <a:gridCol w="1283672">
                  <a:extLst>
                    <a:ext uri="{9D8B030D-6E8A-4147-A177-3AD203B41FA5}">
                      <a16:colId xmlns:a16="http://schemas.microsoft.com/office/drawing/2014/main" val="147285642"/>
                    </a:ext>
                  </a:extLst>
                </a:gridCol>
                <a:gridCol w="1283672">
                  <a:extLst>
                    <a:ext uri="{9D8B030D-6E8A-4147-A177-3AD203B41FA5}">
                      <a16:colId xmlns:a16="http://schemas.microsoft.com/office/drawing/2014/main" val="386221058"/>
                    </a:ext>
                  </a:extLst>
                </a:gridCol>
                <a:gridCol w="1283672">
                  <a:extLst>
                    <a:ext uri="{9D8B030D-6E8A-4147-A177-3AD203B41FA5}">
                      <a16:colId xmlns:a16="http://schemas.microsoft.com/office/drawing/2014/main" val="3258529604"/>
                    </a:ext>
                  </a:extLst>
                </a:gridCol>
              </a:tblGrid>
              <a:tr h="395645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n_eff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n_g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 [s^2/m]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770895"/>
                  </a:ext>
                </a:extLst>
              </a:tr>
              <a:tr h="395645">
                <a:tc>
                  <a:txBody>
                    <a:bodyPr/>
                    <a:lstStyle/>
                    <a:p>
                      <a:r>
                        <a:rPr lang="es-ES" dirty="0"/>
                        <a:t>Modo 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1.6241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1.9158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-989.54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515517"/>
                  </a:ext>
                </a:extLst>
              </a:tr>
              <a:tr h="395645">
                <a:tc>
                  <a:txBody>
                    <a:bodyPr/>
                    <a:lstStyle/>
                    <a:p>
                      <a:r>
                        <a:rPr lang="es-ES" dirty="0"/>
                        <a:t>Modo 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1.5419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1.7474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-1530.51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824525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D5B32F66-87B5-44D9-B5DF-CCFC0B1421FD}"/>
              </a:ext>
            </a:extLst>
          </p:cNvPr>
          <p:cNvSpPr txBox="1"/>
          <p:nvPr/>
        </p:nvSpPr>
        <p:spPr>
          <a:xfrm>
            <a:off x="496729" y="2513497"/>
            <a:ext cx="11198542" cy="360098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Ahora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analizando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cambia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longitude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1.5 um a 1.6 um,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polinomio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Segundo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Por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 y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una Shallow.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ambas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TE0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mayor ( entre 1.6-1.63)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TM0 (1.52-1.54), lo que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coherente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pues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eléctricos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suelen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Tx/>
              <a:buChar char="-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los puntos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simulación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las cruces,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coinciden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perfectamente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líneas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ajuste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polinómico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Tx/>
              <a:buChar char="-"/>
            </a:pP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Conforme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abanzamos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longitude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disminuyendo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lo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corresponde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pendiente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negative, n2 que me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influirá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cálculo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grupo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comparamos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ambas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pesar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ser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similares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que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 son un poco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altos que la Deep,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debe a que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estructura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esté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lateralmente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afecta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grupo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sale mayor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similares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ambas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inferiores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Shallow.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indica que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grupo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velocidad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Comparando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parámetros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dispersion,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TM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dispersivo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entonces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aunque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 sea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rápida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” 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ng)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dispersiva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respecto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 por la forma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geometría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rectangular. </a:t>
            </a:r>
          </a:p>
          <a:p>
            <a:pPr marL="171450" indent="-171450" algn="just">
              <a:buFontTx/>
              <a:buChar char="-"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3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590123" y="4321729"/>
            <a:ext cx="11199971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results, which is the safe radius, consider safe means less than 0.1 dB/90º.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izquierda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funcion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radio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curvatura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al principio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dependendia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curva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global reside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acoplamiento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luego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llega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punto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residirá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Ese punto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cruzan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curvas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75 um,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tendremos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El safe radius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75um.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derecha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que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modo TE0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bruscamente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radios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pequeños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estabilizarse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los 75-80um, lo que indica que para radios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grandes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estabiliza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recta.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/>
              <p:nvPr/>
            </p:nvSpPr>
            <p:spPr>
              <a:xfrm>
                <a:off x="9598047" y="3152464"/>
                <a:ext cx="1856534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latin typeface="Cambria Math" panose="02040503050406030204" pitchFamily="18" charset="0"/>
                      </a:rPr>
                      <m:t>R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047" y="3152464"/>
                <a:ext cx="1856534" cy="439608"/>
              </a:xfrm>
              <a:prstGeom prst="rect">
                <a:avLst/>
              </a:prstGeom>
              <a:blipFill>
                <a:blip r:embed="rId5"/>
                <a:stretch>
                  <a:fillRect l="-3279" b="-1527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27726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31EBD86-BA6C-68C9-2D38-FC8CFBA7ADC4}"/>
              </a:ext>
            </a:extLst>
          </p:cNvPr>
          <p:cNvSpPr txBox="1"/>
          <p:nvPr/>
        </p:nvSpPr>
        <p:spPr>
          <a:xfrm>
            <a:off x="7384749" y="1454159"/>
            <a:ext cx="4787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dB/90º vs R</a:t>
            </a:r>
          </a:p>
          <a:p>
            <a:pPr algn="ctr"/>
            <a:r>
              <a:rPr lang="en-US" dirty="0"/>
              <a:t>neff_TE0 vs R</a:t>
            </a:r>
          </a:p>
          <a:p>
            <a:pPr algn="ctr"/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30F783-CE36-43E1-85D9-BDA07B3EF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571" y="1654411"/>
            <a:ext cx="3031829" cy="239493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010E059-E618-4FBF-9123-688086FB0C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1418" y="1677267"/>
            <a:ext cx="3082381" cy="231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1222</TotalTime>
  <Words>1245</Words>
  <Application>Microsoft Office PowerPoint</Application>
  <PresentationFormat>Panorámica</PresentationFormat>
  <Paragraphs>132</Paragraphs>
  <Slides>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Lucida Sans</vt:lpstr>
      <vt:lpstr>Times New Roman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#3 – Waveguide compact model Let’s model the waveguide using a second order polynomial:  n_eff (λ)=n_1+n_2 (λ-λ_0 )+n_3 (λ-λ_0 )^2  </vt:lpstr>
      <vt:lpstr>Presentación de PowerPoint</vt:lpstr>
      <vt:lpstr>Learning outcome #4 – Bend waveguide radius vs. loss – deep Find  neff_TE0 for wvl 1.55 µm, width 1.0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cfp</cp:lastModifiedBy>
  <cp:revision>35</cp:revision>
  <dcterms:created xsi:type="dcterms:W3CDTF">2025-01-27T02:46:57Z</dcterms:created>
  <dcterms:modified xsi:type="dcterms:W3CDTF">2026-03-02T19:27:57Z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