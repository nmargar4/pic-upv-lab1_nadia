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95" r:id="rId3"/>
    <p:sldId id="290" r:id="rId4"/>
    <p:sldId id="292" r:id="rId5"/>
    <p:sldId id="297" r:id="rId6"/>
    <p:sldId id="298" r:id="rId7"/>
    <p:sldId id="293" r:id="rId8"/>
    <p:sldId id="300" r:id="rId9"/>
    <p:sldId id="302" r:id="rId10"/>
    <p:sldId id="303" r:id="rId11"/>
    <p:sldId id="288" r:id="rId1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38" autoAdjust="0"/>
    <p:restoredTop sz="94055" autoAdjust="0"/>
  </p:normalViewPr>
  <p:slideViewPr>
    <p:cSldViewPr>
      <p:cViewPr>
        <p:scale>
          <a:sx n="80" d="100"/>
          <a:sy n="80" d="100"/>
        </p:scale>
        <p:origin x="-282" y="61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03/03/2026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03/03/2026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29506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683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11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4.sv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Nadia Martí García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785104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buscar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óptima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temenos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fijar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qué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valor de los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ejes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x,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valor del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no cambia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significativamente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grid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al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inicio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cambios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bruscos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y que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50,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mantiene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rededor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un valor de neff_TE0= 1.605.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converge para un valor de grid resolution=50.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Así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mismo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max grid resolution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valor de 1.4.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un valor de neff_TE0= 1.6053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escogeré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 20 y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max_grid_scalling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 1.5.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mallado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he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escogido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ese valor 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respuesta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similar al que converge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=1.605)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al ser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tendrá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costo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computacional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35A9662-962B-49BE-9828-35AA8022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2939" y="1600265"/>
            <a:ext cx="4119562" cy="304213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9455F4C-5805-4C49-A10D-B3FBD5F75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0439" y="1600265"/>
            <a:ext cx="4255473" cy="310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373091"/>
            <a:ext cx="11199971" cy="232371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muestra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dependecia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con respect a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irán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propaganda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nclading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siempre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bimodo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desde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principio. </a:t>
            </a:r>
          </a:p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El modo 2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los 1.3um,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3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1.6 um.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También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color de los puntos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indica sus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polarizaciones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estaríamos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viendo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TE0, TM0. TE1 y TM1.</a:t>
            </a:r>
          </a:p>
          <a:p>
            <a:pPr algn="just"/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las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curvas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los dos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van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estabilizandose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para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acabar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totalmente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2 y 3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al final una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pronunciada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ganando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” para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posteriormente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estabilizarse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para observer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comporta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TE1.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llega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adelantar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magnético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lo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eléctricos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tienden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magnéticos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2772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6629400" y="1600464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6A400F8-E725-44B2-9AA3-74AF708EC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0814" y="1570894"/>
            <a:ext cx="4023971" cy="234252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C927B3B-C818-4F37-9341-9DA3365281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1599809"/>
            <a:ext cx="3810000" cy="221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428661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428661"/>
              </a:xfrm>
              <a:prstGeom prst="rect">
                <a:avLst/>
              </a:prstGeom>
              <a:blipFill>
                <a:blip r:embed="rId3"/>
                <a:stretch>
                  <a:fillRect l="-1664" t="-55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9379811" y="6386169"/>
            <a:ext cx="2804160" cy="342900"/>
          </a:xfrm>
        </p:spPr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18686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1868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CF0FE8FA-35BA-443D-AE0C-E5DBEEFC4E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330" y="1475143"/>
            <a:ext cx="5184777" cy="3215875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58FD4871-42C7-4EA6-B37B-B3D820E64C6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7780" y="1465339"/>
            <a:ext cx="5282429" cy="327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6961016-1845-43F6-8DE4-99158B8160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C4E4585-65DB-4E7A-94E9-08420EACC53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graphicFrame>
        <p:nvGraphicFramePr>
          <p:cNvPr id="7" name="Tabla 7">
            <a:extLst>
              <a:ext uri="{FF2B5EF4-FFF2-40B4-BE49-F238E27FC236}">
                <a16:creationId xmlns:a16="http://schemas.microsoft.com/office/drawing/2014/main" id="{1F24D5DC-817B-4365-8FEF-D118B0ABA1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5399524"/>
              </p:ext>
            </p:extLst>
          </p:nvPr>
        </p:nvGraphicFramePr>
        <p:xfrm>
          <a:off x="609600" y="1094169"/>
          <a:ext cx="5134688" cy="1155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72">
                  <a:extLst>
                    <a:ext uri="{9D8B030D-6E8A-4147-A177-3AD203B41FA5}">
                      <a16:colId xmlns:a16="http://schemas.microsoft.com/office/drawing/2014/main" val="295643760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147285642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86221058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258529604"/>
                    </a:ext>
                  </a:extLst>
                </a:gridCol>
              </a:tblGrid>
              <a:tr h="385236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n_eff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 [s^2/m]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770895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r>
                        <a:rPr lang="es-ES" dirty="0"/>
                        <a:t>Modo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1.6049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-1006.7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515517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r>
                        <a:rPr lang="es-ES" dirty="0"/>
                        <a:t>Modo 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-1590.69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824525"/>
                  </a:ext>
                </a:extLst>
              </a:tr>
            </a:tbl>
          </a:graphicData>
        </a:graphic>
      </p:graphicFrame>
      <p:sp>
        <p:nvSpPr>
          <p:cNvPr id="8" name="Título 1">
            <a:extLst>
              <a:ext uri="{FF2B5EF4-FFF2-40B4-BE49-F238E27FC236}">
                <a16:creationId xmlns:a16="http://schemas.microsoft.com/office/drawing/2014/main" id="{A924A96F-A81A-45E8-8693-00CA2BBCF25E}"/>
              </a:ext>
            </a:extLst>
          </p:cNvPr>
          <p:cNvSpPr txBox="1">
            <a:spLocks/>
          </p:cNvSpPr>
          <p:nvPr/>
        </p:nvSpPr>
        <p:spPr>
          <a:xfrm>
            <a:off x="2209799" y="634602"/>
            <a:ext cx="24384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s-ES" kern="0" dirty="0"/>
              <a:t>Deep </a:t>
            </a:r>
            <a:r>
              <a:rPr lang="es-ES" kern="0" dirty="0" err="1"/>
              <a:t>waveguide</a:t>
            </a:r>
            <a:endParaRPr lang="es-ES" kern="0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E22649E6-2376-4B26-90AF-426D16A1AB2A}"/>
              </a:ext>
            </a:extLst>
          </p:cNvPr>
          <p:cNvSpPr txBox="1">
            <a:spLocks/>
          </p:cNvSpPr>
          <p:nvPr/>
        </p:nvSpPr>
        <p:spPr>
          <a:xfrm>
            <a:off x="7543801" y="634601"/>
            <a:ext cx="24384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s-ES" kern="0" dirty="0" err="1"/>
              <a:t>Shallow</a:t>
            </a:r>
            <a:r>
              <a:rPr lang="es-ES" kern="0" dirty="0"/>
              <a:t> </a:t>
            </a:r>
            <a:r>
              <a:rPr lang="es-ES" kern="0" dirty="0" err="1"/>
              <a:t>waveguide</a:t>
            </a:r>
            <a:endParaRPr lang="es-ES" kern="0" dirty="0"/>
          </a:p>
        </p:txBody>
      </p:sp>
      <p:graphicFrame>
        <p:nvGraphicFramePr>
          <p:cNvPr id="10" name="Tabla 7">
            <a:extLst>
              <a:ext uri="{FF2B5EF4-FFF2-40B4-BE49-F238E27FC236}">
                <a16:creationId xmlns:a16="http://schemas.microsoft.com/office/drawing/2014/main" id="{D2EDAF16-D22E-490E-9FC4-298B7508E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399013"/>
              </p:ext>
            </p:extLst>
          </p:nvPr>
        </p:nvGraphicFramePr>
        <p:xfrm>
          <a:off x="6195657" y="1104096"/>
          <a:ext cx="5134688" cy="1186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72">
                  <a:extLst>
                    <a:ext uri="{9D8B030D-6E8A-4147-A177-3AD203B41FA5}">
                      <a16:colId xmlns:a16="http://schemas.microsoft.com/office/drawing/2014/main" val="295643760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147285642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86221058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258529604"/>
                    </a:ext>
                  </a:extLst>
                </a:gridCol>
              </a:tblGrid>
              <a:tr h="395645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n_eff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 [s^2/m]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770895"/>
                  </a:ext>
                </a:extLst>
              </a:tr>
              <a:tr h="395645">
                <a:tc>
                  <a:txBody>
                    <a:bodyPr/>
                    <a:lstStyle/>
                    <a:p>
                      <a:r>
                        <a:rPr lang="es-ES" dirty="0"/>
                        <a:t>Modo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1.6241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1.9158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-989.54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515517"/>
                  </a:ext>
                </a:extLst>
              </a:tr>
              <a:tr h="395645">
                <a:tc>
                  <a:txBody>
                    <a:bodyPr/>
                    <a:lstStyle/>
                    <a:p>
                      <a:r>
                        <a:rPr lang="es-ES" dirty="0"/>
                        <a:t>Modo 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1.5419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1.7474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-1530.51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824525"/>
                  </a:ext>
                </a:extLst>
              </a:tr>
            </a:tbl>
          </a:graphicData>
        </a:graphic>
      </p:graphicFrame>
      <p:sp>
        <p:nvSpPr>
          <p:cNvPr id="13" name="CuadroTexto 12">
            <a:extLst>
              <a:ext uri="{FF2B5EF4-FFF2-40B4-BE49-F238E27FC236}">
                <a16:creationId xmlns:a16="http://schemas.microsoft.com/office/drawing/2014/main" id="{D5B32F66-87B5-44D9-B5DF-CCFC0B1421FD}"/>
              </a:ext>
            </a:extLst>
          </p:cNvPr>
          <p:cNvSpPr txBox="1"/>
          <p:nvPr/>
        </p:nvSpPr>
        <p:spPr>
          <a:xfrm>
            <a:off x="496729" y="2513497"/>
            <a:ext cx="11198542" cy="360098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Ahora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cambia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1.5 um a 1.6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polinomio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Segundo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Por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y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una Shallow.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( entre 1.6-1.63)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TM0 (1.52-1.54), lo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coherente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eléctricos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suelen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los puntos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las cruces,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coinciden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perfectamente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polinómico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abanzamos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disminuyendo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pendiente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negative, n2 que me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influirá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cálculo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grupo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pesar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similares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son un poco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altos que la Deep,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debe a que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estructura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esté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lateralmente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afecta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grupo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sale mayor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similares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inferiores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Shallow.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indica que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velocidad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grupo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velocidad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parámetros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dispersion,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entonces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sea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rápida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” 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ng)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por la forma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geometría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rectangular. </a:t>
            </a: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336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590123" y="4321729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izquierda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radio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curvatura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al principio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dependendia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global reside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luego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punto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residirá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Ese punto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cruzan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curvas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75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tendremos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El safe radius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75um.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TE0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bruscamente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radios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pequeños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estabilizarse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75-80um, lo que indica que para radios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grandes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recta.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598047" y="3152464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8047" y="3152464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79" b="-1527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2772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7384749" y="1454159"/>
            <a:ext cx="4787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vs R</a:t>
            </a:r>
          </a:p>
          <a:p>
            <a:pPr algn="ctr"/>
            <a:r>
              <a:rPr lang="en-US" dirty="0"/>
              <a:t>neff_TE0 vs R</a:t>
            </a:r>
          </a:p>
          <a:p>
            <a:pPr algn="ctr"/>
            <a:endParaRPr lang="en-U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30F783-CE36-43E1-85D9-BDA07B3EF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571" y="1654411"/>
            <a:ext cx="3031829" cy="239493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010E059-E618-4FBF-9123-688086FB0C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418" y="1677267"/>
            <a:ext cx="3082381" cy="231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FA6FB84-1935-4165-B237-640CA1EB421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F1EDB49-4DD2-40F9-880E-604C17E17B9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9B07A2A-F816-4C87-83D3-4290E0635607}"/>
              </a:ext>
            </a:extLst>
          </p:cNvPr>
          <p:cNvSpPr/>
          <p:nvPr/>
        </p:nvSpPr>
        <p:spPr>
          <a:xfrm>
            <a:off x="609441" y="1066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DC86445-0F36-4C4E-A99A-5F8CAABDA5D8}"/>
              </a:ext>
            </a:extLst>
          </p:cNvPr>
          <p:cNvSpPr txBox="1"/>
          <p:nvPr/>
        </p:nvSpPr>
        <p:spPr>
          <a:xfrm>
            <a:off x="609441" y="4479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Grid resolution: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oscila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durante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sin embargo cambia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tercera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cifra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decimal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grid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resolutón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70.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Max grid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scalling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punto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estabilida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valor 1.7, por lo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530E92C-F0E4-42F3-A849-0E197D7BB34C}"/>
              </a:ext>
            </a:extLst>
          </p:cNvPr>
          <p:cNvSpPr/>
          <p:nvPr/>
        </p:nvSpPr>
        <p:spPr>
          <a:xfrm>
            <a:off x="6322853" y="1066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E421EB8-AB9C-464E-8075-C348432DEE58}"/>
              </a:ext>
            </a:extLst>
          </p:cNvPr>
          <p:cNvSpPr txBox="1"/>
          <p:nvPr/>
        </p:nvSpPr>
        <p:spPr>
          <a:xfrm>
            <a:off x="628491" y="243280"/>
            <a:ext cx="6129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EXTRA: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C02492B-4971-400F-B43C-D91E5D75E382}"/>
              </a:ext>
            </a:extLst>
          </p:cNvPr>
          <p:cNvSpPr txBox="1"/>
          <p:nvPr/>
        </p:nvSpPr>
        <p:spPr>
          <a:xfrm>
            <a:off x="1447800" y="186666"/>
            <a:ext cx="9448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Learning outcome #1 – Convergence tests</a:t>
            </a:r>
            <a:br>
              <a:rPr lang="en-US" sz="2400" dirty="0"/>
            </a:br>
            <a:r>
              <a:rPr lang="nl-NL" b="0" dirty="0"/>
              <a:t>DE waveguide</a:t>
            </a:r>
            <a:r>
              <a:rPr lang="nl-NL" dirty="0"/>
              <a:t> Silicon-On-Insulator:</a:t>
            </a:r>
            <a:r>
              <a:rPr lang="nl-NL" b="0" dirty="0"/>
              <a:t> w = </a:t>
            </a:r>
            <a:r>
              <a:rPr lang="nl-NL" dirty="0"/>
              <a:t>0.5</a:t>
            </a:r>
            <a:r>
              <a:rPr lang="nl-NL" b="0" dirty="0"/>
              <a:t> µm, </a:t>
            </a:r>
            <a:r>
              <a:rPr lang="nl-NL" dirty="0"/>
              <a:t>thickness= 220nm, </a:t>
            </a:r>
            <a:r>
              <a:rPr lang="nl-NL" b="0" dirty="0"/>
              <a:t>neff_TE0, wvl 1.55 µm. </a:t>
            </a:r>
            <a:endParaRPr lang="es-ES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B1962ACC-D091-4DFB-9AD8-96D26E82E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387" y="1203767"/>
            <a:ext cx="4049489" cy="3037116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01F296E9-DCCE-437D-BAA1-006ECF70F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124" y="1203767"/>
            <a:ext cx="4191000" cy="3100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067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9379811" y="6386169"/>
            <a:ext cx="2804160" cy="342900"/>
          </a:xfrm>
        </p:spPr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472653" y="1396534"/>
            <a:ext cx="5486559" cy="3404066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BA4C38A-AE66-42D4-B814-B7F7C31C3079}"/>
              </a:ext>
            </a:extLst>
          </p:cNvPr>
          <p:cNvSpPr txBox="1"/>
          <p:nvPr/>
        </p:nvSpPr>
        <p:spPr>
          <a:xfrm>
            <a:off x="6222087" y="1396534"/>
            <a:ext cx="5497260" cy="341632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obtenidos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puntos.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mueven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estrecho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1.42 y 1.63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van de 1.4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2.8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fundamental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eléctrico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indica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frena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” mas a la luz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fijamos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TE0 y TM0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Si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Nos indica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sensible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antes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SOI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2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ejemplo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w= 0.45um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que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alcanza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1.3 um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cladding.</a:t>
            </a: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object 16">
            <a:extLst>
              <a:ext uri="{FF2B5EF4-FFF2-40B4-BE49-F238E27FC236}">
                <a16:creationId xmlns:a16="http://schemas.microsoft.com/office/drawing/2014/main" id="{E3C13938-06A8-49BF-9137-895B577DB7FE}"/>
              </a:ext>
            </a:extLst>
          </p:cNvPr>
          <p:cNvSpPr txBox="1">
            <a:spLocks/>
          </p:cNvSpPr>
          <p:nvPr/>
        </p:nvSpPr>
        <p:spPr>
          <a:xfrm>
            <a:off x="1447800" y="285279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500" kern="0" dirty="0"/>
              <a:t>Learning outcome #2 – Width dependence</a:t>
            </a:r>
            <a:br>
              <a:rPr lang="en-US" sz="2500" kern="0" spc="-5" dirty="0">
                <a:latin typeface="+mj-lt"/>
                <a:cs typeface="Lucida Sans"/>
              </a:rPr>
            </a:br>
            <a:r>
              <a:rPr lang="en-US" b="0" kern="0" dirty="0"/>
              <a:t>Width 0.3 - 1 µm– Wavelength 1.55 µm </a:t>
            </a:r>
            <a:endParaRPr lang="en-US" sz="2500" b="0" kern="0" dirty="0">
              <a:latin typeface="+mj-lt"/>
              <a:cs typeface="Lucida Sans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8C87031B-567B-46C7-965A-84B7BCE8B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90" y="1554914"/>
            <a:ext cx="4840620" cy="2817933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A9FF6620-175D-4B5B-AC50-9A8A2FCBE844}"/>
              </a:ext>
            </a:extLst>
          </p:cNvPr>
          <p:cNvSpPr txBox="1"/>
          <p:nvPr/>
        </p:nvSpPr>
        <p:spPr>
          <a:xfrm>
            <a:off x="609600" y="309244"/>
            <a:ext cx="6129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EXTRA:</a:t>
            </a:r>
          </a:p>
        </p:txBody>
      </p:sp>
    </p:spTree>
    <p:extLst>
      <p:ext uri="{BB962C8B-B14F-4D97-AF65-F5344CB8AC3E}">
        <p14:creationId xmlns:p14="http://schemas.microsoft.com/office/powerpoint/2010/main" val="2291772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51916" y="351630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0.5 µm for R=[5,30]µm Core= Si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1.0. WAVEGUIDES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708660" y="4635272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escogería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safe radius de 10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Cruzan, y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una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alcanzando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Tambien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justo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habíamos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visto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necesitábamos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radio de 75 um para que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superaran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límite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 dB/90º,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gran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ventaja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hora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compactar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circuito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hacerlo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pequeño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89271" y="1295400"/>
            <a:ext cx="11199971" cy="31508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92B9098-C5CD-4D87-8AE3-C71C77E2D1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1916" y="1484378"/>
            <a:ext cx="3601768" cy="2806172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CC37F6FC-98B4-434C-8D5A-127D513C1C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3140" y="1506261"/>
            <a:ext cx="3611879" cy="2699600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CE32F9C0-83B7-46E4-A638-D2F2C8EF067C}"/>
              </a:ext>
            </a:extLst>
          </p:cNvPr>
          <p:cNvSpPr txBox="1"/>
          <p:nvPr/>
        </p:nvSpPr>
        <p:spPr>
          <a:xfrm>
            <a:off x="640987" y="371094"/>
            <a:ext cx="6129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EXTRA:</a:t>
            </a:r>
          </a:p>
        </p:txBody>
      </p:sp>
    </p:spTree>
    <p:extLst>
      <p:ext uri="{BB962C8B-B14F-4D97-AF65-F5344CB8AC3E}">
        <p14:creationId xmlns:p14="http://schemas.microsoft.com/office/powerpoint/2010/main" val="2842462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1446</TotalTime>
  <Words>1728</Words>
  <Application>Microsoft Office PowerPoint</Application>
  <PresentationFormat>Panorámica</PresentationFormat>
  <Paragraphs>164</Paragraphs>
  <Slides>11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 </vt:lpstr>
      <vt:lpstr>Presentación de PowerPoint</vt:lpstr>
      <vt:lpstr>Learning outcome #4 – Bend waveguide radius vs. loss – deep Find  neff_TE0 for wvl 1.55 µm, width 1.0 µm for R=25,50,75,100, 125,150 µm </vt:lpstr>
      <vt:lpstr>Presentación de PowerPoint</vt:lpstr>
      <vt:lpstr>Presentación de PowerPoint</vt:lpstr>
      <vt:lpstr>Learning outcome #4 – Bend waveguide radius vs. loss – deep Find  neff_TE0 for wvl 1.55 µm, width 0.5 µm for R=[5,30]µm Core= Si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50</cp:revision>
  <dcterms:created xsi:type="dcterms:W3CDTF">2025-01-27T02:46:57Z</dcterms:created>
  <dcterms:modified xsi:type="dcterms:W3CDTF">2026-03-03T18:56:41Z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